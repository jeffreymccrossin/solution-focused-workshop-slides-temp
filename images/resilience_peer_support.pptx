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media/image1.jpeg" ContentType="image/jpeg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9144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rIns="0" tIns="0" bIns="0"/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rIns="0" tIns="0" bIns="0"/>
          <a:p>
            <a:r>
              <a:rPr b="0" lang="en-US" sz="1400" spc="-1" strike="noStrike">
                <a:solidFill>
                  <a:srgbClr val="303d22"/>
                </a:solidFill>
                <a:latin typeface="Arial"/>
              </a:rPr>
              <a:t>&lt;header&gt;</a:t>
            </a:r>
            <a:endParaRPr b="0" lang="en-US" sz="1400" spc="-1" strike="noStrike">
              <a:solidFill>
                <a:srgbClr val="303d22"/>
              </a:solidFill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rIns="0" tIns="0" bIns="0"/>
          <a:p>
            <a:pPr algn="r"/>
            <a:r>
              <a:rPr b="0" lang="en-US" sz="1400" spc="-1" strike="noStrike">
                <a:solidFill>
                  <a:srgbClr val="303d22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303d22"/>
              </a:solidFill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rIns="0" tIns="0" bIns="0" anchor="b"/>
          <a:p>
            <a:r>
              <a:rPr b="0" lang="en-US" sz="1400" spc="-1" strike="noStrike">
                <a:solidFill>
                  <a:srgbClr val="303d22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303d22"/>
              </a:solidFill>
              <a:latin typeface="Arial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rIns="0" tIns="0" bIns="0" anchor="b"/>
          <a:p>
            <a:pPr algn="r"/>
            <a:fld id="{FF2E6E29-94CD-4915-98D2-586098A848FF}" type="slidenum">
              <a:rPr b="0" lang="en-US" sz="1400" spc="-1" strike="noStrike">
                <a:solidFill>
                  <a:srgbClr val="303d22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303d22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sldImg"/>
          </p:nvPr>
        </p:nvSpPr>
        <p:spPr>
          <a:xfrm>
            <a:off x="1587960" y="1005840"/>
            <a:ext cx="4596480" cy="3447360"/>
          </a:xfrm>
          <a:prstGeom prst="rect">
            <a:avLst/>
          </a:prstGeom>
        </p:spPr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1185120" y="4787640"/>
            <a:ext cx="5407560" cy="5950080"/>
          </a:xfrm>
          <a:prstGeom prst="rect">
            <a:avLst/>
          </a:prstGeom>
        </p:spPr>
        <p:txBody>
          <a:bodyPr lIns="0" rIns="0" tIns="0" bIns="0"/>
          <a:p>
            <a:r>
              <a:rPr b="0" lang="en-US" sz="2000" spc="-1" strike="noStrike">
                <a:latin typeface="Arial"/>
              </a:rPr>
              <a:t>A model of parent‐to‐parent peer support processes intersecting with family resilience theoretical concepts (Masten &amp; Palmer, 2019; McCubbin &amp; Patterson, 1983; Ungar, 2010; Walsh, 2016)</a:t>
            </a:r>
            <a:endParaRPr b="0" lang="en-US" sz="2000" spc="-1" strike="noStrike"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IF THIS IMAGE HAS BEEN PROVIDED BY OR IS OWNED BY A THIRD PARTY, AS INDICATED IN THE CAPTION LINE, THEN FURTHER PERMISSION MAY BE NEEDED BEFORE ANY FURTHER USE. PLEASE CONTACT WILEY'S PERMISSIONS DEPARTMENT ON PERMISSIONS@WILEY.COM OR USE THE RIGHTSLINK SERVICE BY CLICKING ON THE 'REQUEST PERMISSIONS' LINK ACCOMPANYING THIS ARTICLE. WILEY OR AUTHOR OWNED IMAGES MAY BE USED FOR NON-COMMERCIAL PURPOSES, SUBJECT TO PROPER CITATION OF THE ARTICLE, AUTHOR, AND PUBLISHER. 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0054a6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CustomShape 2"/>
          <p:cNvSpPr/>
          <p:nvPr/>
        </p:nvSpPr>
        <p:spPr>
          <a:xfrm>
            <a:off x="0" y="0"/>
            <a:ext cx="144000" cy="1198440"/>
          </a:xfrm>
          <a:prstGeom prst="rect">
            <a:avLst/>
          </a:prstGeom>
          <a:solidFill>
            <a:srgbClr val="ffce34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Shape 1"/>
          <p:cNvSpPr txBox="1"/>
          <p:nvPr/>
        </p:nvSpPr>
        <p:spPr>
          <a:xfrm>
            <a:off x="1260000" y="152280"/>
            <a:ext cx="7200000" cy="45180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/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Parent‐to‐parent support for childhood neurodisability: A qualitative analysis and proposed model of peer support and family resilience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Shape 2"/>
          <p:cNvSpPr txBox="1"/>
          <p:nvPr/>
        </p:nvSpPr>
        <p:spPr>
          <a:xfrm>
            <a:off x="360000" y="5940000"/>
            <a:ext cx="8640000" cy="4518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US" sz="800" spc="-1" strike="noStrike">
                <a:solidFill>
                  <a:srgbClr val="0054a6"/>
                </a:solidFill>
                <a:latin typeface="Arial"/>
              </a:rPr>
              <a:t>Child, Volume: 49, Issue: 3, Pages: 544-554, First published: 12 October 2022, DOI: (10.1111/cch.13069) 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6" name="Main graphic" descr=""/>
          <p:cNvPicPr/>
          <p:nvPr/>
        </p:nvPicPr>
        <p:blipFill>
          <a:blip r:embed="rId1"/>
          <a:stretch/>
        </p:blipFill>
        <p:spPr>
          <a:xfrm>
            <a:off x="2059200" y="762120"/>
            <a:ext cx="5076720" cy="3809880"/>
          </a:xfrm>
          <a:prstGeom prst="rect">
            <a:avLst/>
          </a:prstGeom>
          <a:ln>
            <a:noFill/>
          </a:ln>
        </p:spPr>
      </p:pic>
    </p:spTree>
  </p:cSld>
  <p:transition>
    <p:wipe dir="r"/>
  </p:transition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LibreOffice/6.0.7.3$Linux_X86_64 LibreOffice_project/dc89aa7a9eabfd848af146d5086077aeed2ae4a5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